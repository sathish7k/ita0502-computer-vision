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A1A61C4-046D-07C1-16B7-76A0D89B864C}">
          <p14:sldIdLst>
            <p14:sldId id="256"/>
            <p14:sldId id="257"/>
          </p14:sldIdLst>
        </p14:section>
        <p14:section name="Perception" id="{76B9CDA7-CF62-0EB5-1166-0C5B898072F7}">
          <p14:sldIdLst>
            <p14:sldId id="258"/>
            <p14:sldId id="259"/>
            <p14:sldId id="260"/>
            <p14:sldId id="261"/>
          </p14:sldIdLst>
        </p14:section>
        <p14:section name="Decision and ITS" id="{B8C3D571-8583-CA1D-246F-87A2DB3404D0}">
          <p14:sldIdLst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6211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1. Welcome and goal: show how a car turns camera images into safe driving decisions. Team split: P1 slides 1-2, P2 slides 3-4, P3 slides 5-6, P4 slides 7-8, P5 slides 9-10.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1. Walk through the five modules. Each output feeds the next one. Everything must run in real time on onboard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2. Camera frames are cleaned (undistort, denoise, contrast), then each pixel is classified as road or lane. Classical methods are fast but fragile in shadows; deep segmentation is more robust. The lane curve defines the path the planner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2. YOLO predicts boxes and classes in a single forward pass, so it is fast enough for real time. Non-maximum suppression removes duplicate boxes. Mention small distant objects and night/rain as hard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3. Optical flow gives per-pixel motion using brightness constancy. Tracking links detections over time: Kalman filter predicts, Hungarian algorithm matches. Result: speed and direction of each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3. Two cameras with a known baseline see a point at different positions; the shift is disparity. Depth Z = f*B/d. Steps: rectify, match, disparity map, depth, point cloud. Error grows with distance squared, so far objects are less accurate.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4. Combine segmentation, detection and depth into one scene model. BEV models give a top-down map; multi-task networks share a backbone to save compute; prediction forecasts where others will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4. Loop: perception, prediction, planning, control, many times per second. Time-to-collision is distance divided by closing speed; brake or steer when it drops below a threshold. The 100 ms figure is a typical design target, not a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5. The same vision stack supports traffic monitoring, incident detection, plate recognition, V2X and driver monitoring. Challenges: weather, occlusion, domain shift, rare cases, safety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5. Recap the five modules and how they form one pipeline. Future work: sensor fusion, transformer/BEV models, V2X, safety validation. Invite questions; route them to the relevant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914400"/>
            <a:ext cx="78638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Computer Vision for Autonomous Driving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385743" y="834390"/>
            <a:ext cx="8608967" cy="975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for Autonomous Driving and Intelligent Transportation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2799040" y="2206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ITA0502- Computer Vision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F9556C-15D3-509A-8669-D508595AA33E}"/>
              </a:ext>
            </a:extLst>
          </p:cNvPr>
          <p:cNvSpPr txBox="1"/>
          <p:nvPr/>
        </p:nvSpPr>
        <p:spPr>
          <a:xfrm>
            <a:off x="3643259" y="1720513"/>
            <a:ext cx="2093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Team- 1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3176610-8D37-02AA-03DD-4659F6B673D8}"/>
              </a:ext>
            </a:extLst>
          </p:cNvPr>
          <p:cNvSpPr txBox="1">
            <a:spLocks/>
          </p:cNvSpPr>
          <p:nvPr/>
        </p:nvSpPr>
        <p:spPr>
          <a:xfrm>
            <a:off x="5562600" y="2849880"/>
            <a:ext cx="6986510" cy="245225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Mallela </a:t>
            </a: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shashanka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(192311083)</a:t>
            </a:r>
          </a:p>
          <a:p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K.Sathish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(192311084)</a:t>
            </a:r>
          </a:p>
          <a:p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Konanki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Harshini Sriya(192421283)</a:t>
            </a:r>
          </a:p>
          <a:p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R.Pavithra</a:t>
            </a:r>
            <a:r>
              <a:rPr lang="en-I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(192421369)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Siddartha Achari(192425047)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4FD9C2-46B2-05B4-C174-0BBC2C1468D4}"/>
              </a:ext>
            </a:extLst>
          </p:cNvPr>
          <p:cNvSpPr txBox="1"/>
          <p:nvPr/>
        </p:nvSpPr>
        <p:spPr>
          <a:xfrm>
            <a:off x="497093" y="3476670"/>
            <a:ext cx="24912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dirty="0"/>
              <a:t> 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C Jeni Gracia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Overview: five building blocks</a:t>
            </a:r>
            <a:endParaRPr lang="en-US" sz="3200" dirty="0"/>
          </a:p>
        </p:txBody>
      </p:sp>
      <p:sp>
        <p:nvSpPr>
          <p:cNvPr id="4" name="num-1"/>
          <p:cNvSpPr txBox="1"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a</a:t>
            </a:r>
            <a:endParaRPr lang="en-US" sz="1600" dirty="0"/>
          </a:p>
        </p:txBody>
      </p:sp>
      <p:sp>
        <p:nvSpPr>
          <p:cNvPr id="5" name="row-2"/>
          <p:cNvSpPr txBox="1"/>
          <p:nvPr/>
        </p:nvSpPr>
        <p:spPr>
          <a:xfrm>
            <a:off x="1097280" y="118872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Image preprocessing and road/lane segmentation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finds the drivable path</a:t>
            </a:r>
            <a:endParaRPr lang="en-US" sz="1800" dirty="0"/>
          </a:p>
        </p:txBody>
      </p:sp>
      <p:sp>
        <p:nvSpPr>
          <p:cNvPr id="6" name="num-3"/>
          <p:cNvSpPr txBox="1"/>
          <p:nvPr/>
        </p:nvSpPr>
        <p:spPr>
          <a:xfrm>
            <a:off x="457200" y="18928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b</a:t>
            </a:r>
            <a:endParaRPr lang="en-US" sz="1600" dirty="0"/>
          </a:p>
        </p:txBody>
      </p:sp>
      <p:sp>
        <p:nvSpPr>
          <p:cNvPr id="7" name="row-4"/>
          <p:cNvSpPr txBox="1"/>
          <p:nvPr/>
        </p:nvSpPr>
        <p:spPr>
          <a:xfrm>
            <a:off x="1097280" y="184708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YOLO object detection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finds vehicles, pedestrians, signs, obstacles</a:t>
            </a:r>
            <a:endParaRPr lang="en-US" sz="1800" dirty="0"/>
          </a:p>
        </p:txBody>
      </p:sp>
      <p:sp>
        <p:nvSpPr>
          <p:cNvPr id="8" name="num-5"/>
          <p:cNvSpPr txBox="1"/>
          <p:nvPr/>
        </p:nvSpPr>
        <p:spPr>
          <a:xfrm>
            <a:off x="457200" y="25511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c</a:t>
            </a:r>
            <a:endParaRPr lang="en-US" sz="1600" dirty="0"/>
          </a:p>
        </p:txBody>
      </p:sp>
      <p:sp>
        <p:nvSpPr>
          <p:cNvPr id="9" name="row-6"/>
          <p:cNvSpPr txBox="1"/>
          <p:nvPr/>
        </p:nvSpPr>
        <p:spPr>
          <a:xfrm>
            <a:off x="1097280" y="250545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Optical flow and tracking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estimates how objects move</a:t>
            </a:r>
            <a:endParaRPr lang="en-US" sz="1800" dirty="0"/>
          </a:p>
        </p:txBody>
      </p:sp>
      <p:sp>
        <p:nvSpPr>
          <p:cNvPr id="10" name="num-7"/>
          <p:cNvSpPr txBox="1"/>
          <p:nvPr/>
        </p:nvSpPr>
        <p:spPr>
          <a:xfrm>
            <a:off x="457200" y="32095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d</a:t>
            </a:r>
            <a:endParaRPr lang="en-US" sz="1600" dirty="0"/>
          </a:p>
        </p:txBody>
      </p:sp>
      <p:sp>
        <p:nvSpPr>
          <p:cNvPr id="11" name="row-8"/>
          <p:cNvSpPr txBox="1"/>
          <p:nvPr/>
        </p:nvSpPr>
        <p:spPr>
          <a:xfrm>
            <a:off x="1097280" y="316382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Stereo vision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estimates depth, distance and 3D</a:t>
            </a:r>
            <a:endParaRPr lang="en-US" sz="1800" dirty="0"/>
          </a:p>
        </p:txBody>
      </p:sp>
      <p:sp>
        <p:nvSpPr>
          <p:cNvPr id="12" name="num-9"/>
          <p:cNvSpPr txBox="1"/>
          <p:nvPr/>
        </p:nvSpPr>
        <p:spPr>
          <a:xfrm>
            <a:off x="457200" y="38679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e</a:t>
            </a:r>
            <a:endParaRPr lang="en-US" sz="1600" dirty="0"/>
          </a:p>
        </p:txBody>
      </p:sp>
      <p:sp>
        <p:nvSpPr>
          <p:cNvPr id="13" name="row-10"/>
          <p:cNvSpPr txBox="1"/>
          <p:nvPr/>
        </p:nvSpPr>
        <p:spPr>
          <a:xfrm>
            <a:off x="1097280" y="382219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Scene understanding and decision-making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navigation and collision avoidance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(a) Preprocessing and lane segmentation</a:t>
            </a:r>
            <a:endParaRPr lang="en-US" sz="3200" dirty="0"/>
          </a:p>
        </p:txBody>
      </p:sp>
      <p:sp>
        <p:nvSpPr>
          <p:cNvPr id="4" name="bullets-11"/>
          <p:cNvSpPr txBox="1"/>
          <p:nvPr/>
        </p:nvSpPr>
        <p:spPr>
          <a:xfrm>
            <a:off x="457200" y="128016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Capture frames from the front camera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Preprocess: undistort, resize, denoise, boost contrast (CLAHE)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Segment pixels into road, lane and background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Fit lane curves to get the drivable path</a:t>
            </a:r>
            <a:endParaRPr lang="en-US" sz="1800" dirty="0"/>
          </a:p>
        </p:txBody>
      </p:sp>
      <p:sp>
        <p:nvSpPr>
          <p:cNvPr id="5" name="card-12"/>
          <p:cNvSpPr/>
          <p:nvPr/>
        </p:nvSpPr>
        <p:spPr>
          <a:xfrm>
            <a:off x="5669280" y="1280160"/>
            <a:ext cx="3017520" cy="329184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6" name="panel-13"/>
          <p:cNvSpPr txBox="1"/>
          <p:nvPr/>
        </p:nvSpPr>
        <p:spPr>
          <a:xfrm>
            <a:off x="5852160" y="1463040"/>
            <a:ext cx="26517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Methods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Classical: Canny edges + Hough lines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Deep learning: U-Net, DeepLab</a:t>
            </a:r>
            <a:endParaRPr lang="en-US" sz="14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400" b="1" dirty="0">
                <a:solidFill>
                  <a:schemeClr val="tx2"/>
                </a:solidFill>
              </a:rPr>
              <a:t>Metric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mIoU</a:t>
            </a:r>
            <a:endParaRPr lang="en-US" sz="14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400" b="1" dirty="0">
                <a:solidFill>
                  <a:schemeClr val="tx2"/>
                </a:solidFill>
              </a:rPr>
              <a:t>Output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Lane lines + drivable-area mask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(b) YOLO-based object detection</a:t>
            </a:r>
            <a:endParaRPr lang="en-US" sz="3200" dirty="0"/>
          </a:p>
        </p:txBody>
      </p:sp>
      <p:sp>
        <p:nvSpPr>
          <p:cNvPr id="4" name="bullets-14"/>
          <p:cNvSpPr txBox="1"/>
          <p:nvPr/>
        </p:nvSpPr>
        <p:spPr>
          <a:xfrm>
            <a:off x="457200" y="128016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YOLO predicts boxes and classes in one forward pass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Detects vehicles, pedestrians, traffic signs and obstacles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Non-maximum suppression (NMS) removes duplicate boxes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Fast enough for real-time use on an onboard GPU</a:t>
            </a:r>
            <a:endParaRPr lang="en-US" sz="1800" dirty="0"/>
          </a:p>
        </p:txBody>
      </p:sp>
      <p:sp>
        <p:nvSpPr>
          <p:cNvPr id="5" name="card-15"/>
          <p:cNvSpPr/>
          <p:nvPr/>
        </p:nvSpPr>
        <p:spPr>
          <a:xfrm>
            <a:off x="5669280" y="1280160"/>
            <a:ext cx="3017520" cy="329184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6" name="panel-16"/>
          <p:cNvSpPr txBox="1"/>
          <p:nvPr/>
        </p:nvSpPr>
        <p:spPr>
          <a:xfrm>
            <a:off x="5852160" y="1463040"/>
            <a:ext cx="26517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Metrics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IoU, mAP, FPS, latency</a:t>
            </a:r>
            <a:endParaRPr lang="en-US" sz="14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400" b="1" dirty="0">
                <a:solidFill>
                  <a:schemeClr val="tx2"/>
                </a:solidFill>
              </a:rPr>
              <a:t>Datasets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KITTI, BDD100K, COCO</a:t>
            </a:r>
            <a:endParaRPr lang="en-US" sz="14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400" b="1" dirty="0">
                <a:solidFill>
                  <a:schemeClr val="tx2"/>
                </a:solidFill>
              </a:rPr>
              <a:t>Output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Box + class + confidence score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(c) Optical flow and object tracking</a:t>
            </a:r>
            <a:endParaRPr lang="en-US" sz="3200" dirty="0"/>
          </a:p>
        </p:txBody>
      </p:sp>
      <p:sp>
        <p:nvSpPr>
          <p:cNvPr id="4" name="bullets-17"/>
          <p:cNvSpPr txBox="1"/>
          <p:nvPr/>
        </p:nvSpPr>
        <p:spPr>
          <a:xfrm>
            <a:off x="457200" y="128016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Optical flow estimates pixel motion between frames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Tracking keeps the same ID for each object over time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Kalman filter predicts the next position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Hungarian algorithm matches detections to tracks</a:t>
            </a:r>
            <a:endParaRPr lang="en-US" sz="1800" dirty="0"/>
          </a:p>
        </p:txBody>
      </p:sp>
      <p:sp>
        <p:nvSpPr>
          <p:cNvPr id="5" name="card-18"/>
          <p:cNvSpPr/>
          <p:nvPr/>
        </p:nvSpPr>
        <p:spPr>
          <a:xfrm>
            <a:off x="5669280" y="1280160"/>
            <a:ext cx="3017520" cy="329184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6" name="equation-19"/>
          <p:cNvSpPr txBox="1"/>
          <p:nvPr/>
        </p:nvSpPr>
        <p:spPr>
          <a:xfrm>
            <a:off x="5852160" y="1463040"/>
            <a:ext cx="265176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Ix·u + Iy·v + It = 0</a:t>
            </a:r>
            <a:endParaRPr lang="en-US" sz="2000" dirty="0"/>
          </a:p>
        </p:txBody>
      </p:sp>
      <p:sp>
        <p:nvSpPr>
          <p:cNvPr id="7" name="panel-20"/>
          <p:cNvSpPr txBox="1"/>
          <p:nvPr/>
        </p:nvSpPr>
        <p:spPr>
          <a:xfrm>
            <a:off x="5852160" y="2286000"/>
            <a:ext cx="2651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Flow methods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Lucas-Kanade (sparse)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Farnebäck (dense)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RAFT (deep)</a:t>
            </a:r>
            <a:endParaRPr lang="en-US" sz="14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400" b="1" dirty="0">
                <a:solidFill>
                  <a:schemeClr val="tx2"/>
                </a:solidFill>
              </a:rPr>
              <a:t>Trackers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SORT, DeepSORT, ByteTrack</a:t>
            </a:r>
            <a:endParaRPr lang="en-US" sz="14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400" b="1" dirty="0">
                <a:solidFill>
                  <a:schemeClr val="tx2"/>
                </a:solidFill>
              </a:rPr>
              <a:t>Output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Speed and direction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(d) Stereo vision: depth and 3D</a:t>
            </a:r>
            <a:endParaRPr lang="en-US" sz="3200" dirty="0"/>
          </a:p>
        </p:txBody>
      </p:sp>
      <p:sp>
        <p:nvSpPr>
          <p:cNvPr id="4" name="bullets-21"/>
          <p:cNvSpPr txBox="1"/>
          <p:nvPr/>
        </p:nvSpPr>
        <p:spPr>
          <a:xfrm>
            <a:off x="457200" y="128016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Two cameras see the same point at different positions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shift between them is the disparity (d)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Pipeline: rectify, match, disparity map, depth, 3D points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Depth error grows with distance</a:t>
            </a:r>
            <a:endParaRPr lang="en-US" sz="1800" dirty="0"/>
          </a:p>
        </p:txBody>
      </p:sp>
      <p:sp>
        <p:nvSpPr>
          <p:cNvPr id="5" name="card-22"/>
          <p:cNvSpPr/>
          <p:nvPr/>
        </p:nvSpPr>
        <p:spPr>
          <a:xfrm>
            <a:off x="5669280" y="1280160"/>
            <a:ext cx="3017520" cy="329184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6" name="equation-23"/>
          <p:cNvSpPr txBox="1"/>
          <p:nvPr/>
        </p:nvSpPr>
        <p:spPr>
          <a:xfrm>
            <a:off x="5852160" y="1463040"/>
            <a:ext cx="265176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Z = f · B / d</a:t>
            </a:r>
            <a:endParaRPr lang="en-US" sz="2000" dirty="0"/>
          </a:p>
        </p:txBody>
      </p:sp>
      <p:sp>
        <p:nvSpPr>
          <p:cNvPr id="7" name="panel-24"/>
          <p:cNvSpPr txBox="1"/>
          <p:nvPr/>
        </p:nvSpPr>
        <p:spPr>
          <a:xfrm>
            <a:off x="5852160" y="2286000"/>
            <a:ext cx="2651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Where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 = focal length (px)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 = baseline (m)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 = disparity (px)</a:t>
            </a:r>
            <a:endParaRPr lang="en-US" sz="14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400" b="1" dirty="0">
                <a:solidFill>
                  <a:schemeClr val="tx2"/>
                </a:solidFill>
              </a:rPr>
              <a:t>Matching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SGBM or deep (PSMNet)</a:t>
            </a:r>
            <a:endParaRPr lang="en-US" sz="14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400" b="1" dirty="0">
                <a:solidFill>
                  <a:schemeClr val="tx2"/>
                </a:solidFill>
              </a:rPr>
              <a:t>Output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Depth map + 3D point cloud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(e) Scene understanding with deep learning</a:t>
            </a:r>
            <a:endParaRPr lang="en-US" sz="3200" dirty="0"/>
          </a:p>
        </p:txBody>
      </p:sp>
      <p:sp>
        <p:nvSpPr>
          <p:cNvPr id="4" name="bullets-25"/>
          <p:cNvSpPr txBox="1"/>
          <p:nvPr/>
        </p:nvSpPr>
        <p:spPr>
          <a:xfrm>
            <a:off x="457200" y="128016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Combine segmentation, detection and depth into one scene model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Bird's-eye-view (BEV) map fuses all cameras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Multi-task networks share one backbone to save compute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Predict future paths of pedestrians and vehicles</a:t>
            </a:r>
            <a:endParaRPr lang="en-US" sz="1800" dirty="0"/>
          </a:p>
        </p:txBody>
      </p:sp>
      <p:sp>
        <p:nvSpPr>
          <p:cNvPr id="5" name="card-26"/>
          <p:cNvSpPr/>
          <p:nvPr/>
        </p:nvSpPr>
        <p:spPr>
          <a:xfrm>
            <a:off x="5669280" y="1280160"/>
            <a:ext cx="3017520" cy="329184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6" name="panel-27"/>
          <p:cNvSpPr txBox="1"/>
          <p:nvPr/>
        </p:nvSpPr>
        <p:spPr>
          <a:xfrm>
            <a:off x="5852160" y="1463040"/>
            <a:ext cx="26517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Models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Panoptic segmentation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BEVFormer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Trajectory prediction</a:t>
            </a:r>
            <a:endParaRPr lang="en-US" sz="14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400" b="1" dirty="0">
                <a:solidFill>
                  <a:schemeClr val="tx2"/>
                </a:solidFill>
              </a:rPr>
              <a:t>Output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Scene map + predicted paths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Decision-making and collision avoidance</a:t>
            </a:r>
            <a:endParaRPr lang="en-US" sz="3200" dirty="0"/>
          </a:p>
        </p:txBody>
      </p:sp>
      <p:sp>
        <p:nvSpPr>
          <p:cNvPr id="4" name="bullets-28"/>
          <p:cNvSpPr txBox="1"/>
          <p:nvPr/>
        </p:nvSpPr>
        <p:spPr>
          <a:xfrm>
            <a:off x="457200" y="128016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Loop: perception → prediction → planning → control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Compute time-to-collision (TTC) for every tracked object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Warn, brake or steer when TTC is below a threshold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Planners: rules, model predictive control, learned policies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Optimize models (TensorRT, quantization) for real time</a:t>
            </a:r>
            <a:endParaRPr lang="en-US" sz="1700" dirty="0"/>
          </a:p>
        </p:txBody>
      </p:sp>
      <p:sp>
        <p:nvSpPr>
          <p:cNvPr id="5" name="card-29"/>
          <p:cNvSpPr/>
          <p:nvPr/>
        </p:nvSpPr>
        <p:spPr>
          <a:xfrm>
            <a:off x="5669280" y="1280160"/>
            <a:ext cx="3017520" cy="329184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6" name="equation-30"/>
          <p:cNvSpPr txBox="1"/>
          <p:nvPr/>
        </p:nvSpPr>
        <p:spPr>
          <a:xfrm>
            <a:off x="5852160" y="1463040"/>
            <a:ext cx="265176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TTC = distance / v_rel</a:t>
            </a:r>
            <a:endParaRPr lang="en-US" sz="2000" dirty="0"/>
          </a:p>
        </p:txBody>
      </p:sp>
      <p:sp>
        <p:nvSpPr>
          <p:cNvPr id="7" name="panel-31"/>
          <p:cNvSpPr txBox="1"/>
          <p:nvPr/>
        </p:nvSpPr>
        <p:spPr>
          <a:xfrm>
            <a:off x="5852160" y="2286000"/>
            <a:ext cx="2651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Real-time target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About 100 ms end-to-end (typical)</a:t>
            </a:r>
            <a:endParaRPr lang="en-US" sz="14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400" b="1" dirty="0">
                <a:solidFill>
                  <a:schemeClr val="tx2"/>
                </a:solidFill>
              </a:rPr>
              <a:t>Safety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Fail-safe fallback if perception fails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ITS applications and open challenges</a:t>
            </a:r>
            <a:endParaRPr lang="en-US" sz="3200" dirty="0"/>
          </a:p>
        </p:txBody>
      </p:sp>
      <p:sp>
        <p:nvSpPr>
          <p:cNvPr id="4" name="card-32"/>
          <p:cNvSpPr/>
          <p:nvPr/>
        </p:nvSpPr>
        <p:spPr>
          <a:xfrm>
            <a:off x="45720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5" name="head-33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ITS applications</a:t>
            </a:r>
            <a:endParaRPr lang="en-US" sz="1800" dirty="0"/>
          </a:p>
        </p:txBody>
      </p:sp>
      <p:sp>
        <p:nvSpPr>
          <p:cNvPr id="6" name="bullets-34"/>
          <p:cNvSpPr txBox="1"/>
          <p:nvPr/>
        </p:nvSpPr>
        <p:spPr>
          <a:xfrm>
            <a:off x="640080" y="19202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Traffic monitoring and signal control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Incident and wrong-way detection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License plate recognition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V2X cooperative perception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Driver monitoring</a:t>
            </a:r>
            <a:endParaRPr lang="en-US" sz="1600" dirty="0"/>
          </a:p>
        </p:txBody>
      </p:sp>
      <p:sp>
        <p:nvSpPr>
          <p:cNvPr id="7" name="card-35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8" name="head-36"/>
          <p:cNvSpPr txBox="1"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Open challenges</a:t>
            </a:r>
            <a:endParaRPr lang="en-US" sz="1800" dirty="0"/>
          </a:p>
        </p:txBody>
      </p:sp>
      <p:sp>
        <p:nvSpPr>
          <p:cNvPr id="9" name="bullets-37"/>
          <p:cNvSpPr txBox="1"/>
          <p:nvPr/>
        </p:nvSpPr>
        <p:spPr>
          <a:xfrm>
            <a:off x="4846320" y="19202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Night, rain, fog and glare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Occlusion in crowded scenes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Domain shift across cities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Rare edge cases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Safety validation and explainability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4" name="bullets-38"/>
          <p:cNvSpPr txBox="1"/>
          <p:nvPr/>
        </p:nvSpPr>
        <p:spPr>
          <a:xfrm>
            <a:off x="457200" y="128016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Segmentation finds the drivable path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YOLO detects objects in real time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Optical flow and tracking estimate motion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Stereo vision gives depth and 3D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Scene understanding supports safe navigation</a:t>
            </a:r>
            <a:endParaRPr lang="en-US" sz="1800" dirty="0"/>
          </a:p>
        </p:txBody>
      </p:sp>
      <p:sp>
        <p:nvSpPr>
          <p:cNvPr id="5" name="card-39"/>
          <p:cNvSpPr/>
          <p:nvPr/>
        </p:nvSpPr>
        <p:spPr>
          <a:xfrm>
            <a:off x="5669280" y="1280160"/>
            <a:ext cx="3017520" cy="329184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6" name="future-40"/>
          <p:cNvSpPr txBox="1"/>
          <p:nvPr/>
        </p:nvSpPr>
        <p:spPr>
          <a:xfrm>
            <a:off x="5852160" y="146304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Future work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Camera + LiDAR + radar fusion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Transformer / BEV models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V2X cooperation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Verified safety</a:t>
            </a:r>
            <a:endParaRPr lang="en-US" sz="1400" dirty="0"/>
          </a:p>
        </p:txBody>
      </p:sp>
      <p:sp>
        <p:nvSpPr>
          <p:cNvPr id="7" name="q-41"/>
          <p:cNvSpPr txBox="1"/>
          <p:nvPr/>
        </p:nvSpPr>
        <p:spPr>
          <a:xfrm>
            <a:off x="3771900" y="4114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Thank you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Tech">
  <a:themeElements>
    <a:clrScheme name="SimpleTech">
      <a:dk1>
        <a:srgbClr val="0F1B2D"/>
      </a:dk1>
      <a:lt1>
        <a:srgbClr val="FFFFFF"/>
      </a:lt1>
      <a:dk2>
        <a:srgbClr val="1F3350"/>
      </a:dk2>
      <a:lt2>
        <a:srgbClr val="EEF2F6"/>
      </a:lt2>
      <a:accent1>
        <a:srgbClr val="F5A623"/>
      </a:accent1>
      <a:accent2>
        <a:srgbClr val="1BB3A5"/>
      </a:accent2>
      <a:accent3>
        <a:srgbClr val="E5484D"/>
      </a:accent3>
      <a:accent4>
        <a:srgbClr val="5B8DEF"/>
      </a:accent4>
      <a:accent5>
        <a:srgbClr val="6B7C93"/>
      </a:accent5>
      <a:accent6>
        <a:srgbClr val="3DDC97"/>
      </a:accent6>
      <a:hlink>
        <a:srgbClr val="5B8DEF"/>
      </a:hlink>
      <a:folHlink>
        <a:srgbClr val="6B7C93"/>
      </a:folHlink>
    </a:clrScheme>
    <a:fontScheme name="SimpleTe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22</TotalTime>
  <Words>1049</Words>
  <Application>Microsoft Office PowerPoint</Application>
  <PresentationFormat>On-screen Show (16:9)</PresentationFormat>
  <Paragraphs>154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SimpleTech</vt:lpstr>
      <vt:lpstr>Computer Vision for Autonomous Driving and Intelligent Transportation</vt:lpstr>
      <vt:lpstr>Overview: five building blocks</vt:lpstr>
      <vt:lpstr>(a) Preprocessing and lane segmentation</vt:lpstr>
      <vt:lpstr>(b) YOLO-based object detection</vt:lpstr>
      <vt:lpstr>(c) Optical flow and object tracking</vt:lpstr>
      <vt:lpstr>(d) Stereo vision: depth and 3D</vt:lpstr>
      <vt:lpstr>(e) Scene understanding with deep learning</vt:lpstr>
      <vt:lpstr>Decision-making and collision avoidance</vt:lpstr>
      <vt:lpstr>ITS applications and open challenges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for Autonomous Driving (Simple)</dc:title>
  <dc:subject>PptxGenJS Presentation</dc:subject>
  <dc:creator>PptxGenJS</dc:creator>
  <cp:lastModifiedBy>sathish kottidi</cp:lastModifiedBy>
  <cp:revision>3</cp:revision>
  <dcterms:created xsi:type="dcterms:W3CDTF">2026-10-06T17:57:04Z</dcterms:created>
  <dcterms:modified xsi:type="dcterms:W3CDTF">2026-10-07T04:00:15Z</dcterms:modified>
</cp:coreProperties>
</file>